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8229600" cy="12069763"/>
  <p:notesSz cx="12069763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25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67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164592"/>
            <a:ext cx="5303520" cy="475488"/>
          </a:xfrm>
          <a:prstGeom prst="roundRect">
            <a:avLst>
              <a:gd name="adj" fmla="val 15385"/>
            </a:avLst>
          </a:prstGeom>
          <a:solidFill>
            <a:srgbClr val="28327A"/>
          </a:solidFill>
          <a:ln w="12700">
            <a:solidFill>
              <a:srgbClr val="1B22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6459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 GPO RELEASE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7772400" cy="10835640"/>
          </a:xfrm>
          <a:prstGeom prst="rect">
            <a:avLst/>
          </a:prstGeom>
          <a:solidFill>
            <a:srgbClr val="FFFFFF"/>
          </a:solidFill>
          <a:ln w="15875">
            <a:solidFill>
              <a:srgbClr val="8A93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554480"/>
            <a:ext cx="7772400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3337560"/>
            <a:ext cx="7772400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389120"/>
            <a:ext cx="7772400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406640"/>
            <a:ext cx="7772400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549640"/>
            <a:ext cx="7772400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9418320"/>
            <a:ext cx="7772400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0332720"/>
            <a:ext cx="7772400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1109960"/>
            <a:ext cx="7772400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7632" y="822960"/>
            <a:ext cx="0" cy="1083564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882396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56032" y="125730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05740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" y="2432304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 TEAM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</a:t>
            </a:r>
            <a:endParaRPr lang="en-US" sz="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47472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6032" y="3849624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RELEASE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(CANARY)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55092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56032" y="5884164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TESTING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758952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56032" y="7964424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8677656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56032" y="905256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RELEASE</a:t>
            </a:r>
            <a:endParaRPr lang="en-US" sz="9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" y="9514332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56032" y="9998964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SUNSET PROCESS</a:t>
            </a:r>
            <a:endParaRPr lang="en-US" sz="9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" y="10415016"/>
            <a:ext cx="347472" cy="34747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56032" y="1078992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50" dirty="0"/>
          </a:p>
        </p:txBody>
      </p:sp>
      <p:sp>
        <p:nvSpPr>
          <p:cNvPr id="30" name="Text 20"/>
          <p:cNvSpPr/>
          <p:nvPr/>
        </p:nvSpPr>
        <p:spPr>
          <a:xfrm>
            <a:off x="256032" y="11109960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/ NOTES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1828800" y="978408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5875">
            <a:solidFill>
              <a:srgbClr val="5B7FC7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1828800" y="978408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 Releases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STIG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2446020" y="1435608"/>
            <a:ext cx="0" cy="28346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4" name="Shape 24"/>
          <p:cNvSpPr/>
          <p:nvPr/>
        </p:nvSpPr>
        <p:spPr>
          <a:xfrm>
            <a:off x="1737360" y="1719072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9F4EC"/>
          </a:solidFill>
          <a:ln w="15875">
            <a:solidFill>
              <a:srgbClr val="4C9A5F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1737360" y="1719072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 Team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STIG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36" name="Shape 26"/>
          <p:cNvSpPr/>
          <p:nvPr/>
        </p:nvSpPr>
        <p:spPr>
          <a:xfrm>
            <a:off x="3337560" y="1719072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9F4EC"/>
          </a:solidFill>
          <a:ln w="15875">
            <a:solidFill>
              <a:srgbClr val="4C9A5F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337560" y="1719072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 Team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Configures GPO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DISA STIG</a:t>
            </a:r>
            <a:endParaRPr lang="en-US" sz="850" dirty="0"/>
          </a:p>
        </p:txBody>
      </p:sp>
      <p:sp>
        <p:nvSpPr>
          <p:cNvPr id="38" name="Shape 28"/>
          <p:cNvSpPr/>
          <p:nvPr/>
        </p:nvSpPr>
        <p:spPr>
          <a:xfrm>
            <a:off x="4937760" y="1719072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9F4EC"/>
          </a:solidFill>
          <a:ln w="15875">
            <a:solidFill>
              <a:srgbClr val="4C9A5F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4937760" y="1719072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GPO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Test OU</a:t>
            </a:r>
            <a:endParaRPr lang="en-US" sz="850" dirty="0"/>
          </a:p>
        </p:txBody>
      </p:sp>
      <p:sp>
        <p:nvSpPr>
          <p:cNvPr id="40" name="Shape 30"/>
          <p:cNvSpPr/>
          <p:nvPr/>
        </p:nvSpPr>
        <p:spPr>
          <a:xfrm>
            <a:off x="6537960" y="1719072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9F4EC"/>
          </a:solidFill>
          <a:ln w="15875">
            <a:solidFill>
              <a:srgbClr val="4C9A5F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6537960" y="1719072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SCAP Scan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3108960" y="2002536"/>
            <a:ext cx="2286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4709160" y="2002536"/>
            <a:ext cx="2286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6309360" y="2002536"/>
            <a:ext cx="2286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5" name="Shape 35"/>
          <p:cNvSpPr/>
          <p:nvPr/>
        </p:nvSpPr>
        <p:spPr>
          <a:xfrm>
            <a:off x="7223760" y="2286000"/>
            <a:ext cx="0" cy="201168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6" name="Shape 36"/>
          <p:cNvSpPr/>
          <p:nvPr/>
        </p:nvSpPr>
        <p:spPr>
          <a:xfrm>
            <a:off x="6675120" y="2487168"/>
            <a:ext cx="1097280" cy="6583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C9A5F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675120" y="24871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Compliant?</a:t>
            </a:r>
            <a:endParaRPr lang="en-US" sz="800" dirty="0"/>
          </a:p>
        </p:txBody>
      </p:sp>
      <p:sp>
        <p:nvSpPr>
          <p:cNvPr id="48" name="Shape 38"/>
          <p:cNvSpPr/>
          <p:nvPr/>
        </p:nvSpPr>
        <p:spPr>
          <a:xfrm flipH="1">
            <a:off x="4023360" y="2816352"/>
            <a:ext cx="26517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4023360" y="2286000"/>
            <a:ext cx="0" cy="530352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50" name="Text 40"/>
          <p:cNvSpPr/>
          <p:nvPr/>
        </p:nvSpPr>
        <p:spPr>
          <a:xfrm>
            <a:off x="6309360" y="25968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51" name="Shape 41"/>
          <p:cNvSpPr/>
          <p:nvPr/>
        </p:nvSpPr>
        <p:spPr>
          <a:xfrm>
            <a:off x="7223760" y="3145536"/>
            <a:ext cx="0" cy="128016"/>
          </a:xfrm>
          <a:prstGeom prst="line">
            <a:avLst/>
          </a:prstGeom>
          <a:noFill/>
          <a:ln w="19050">
            <a:solidFill>
              <a:srgbClr val="1E8E3E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 flipH="1">
            <a:off x="2468880" y="3273552"/>
            <a:ext cx="4754880" cy="0"/>
          </a:xfrm>
          <a:prstGeom prst="line">
            <a:avLst/>
          </a:prstGeom>
          <a:noFill/>
          <a:ln w="19050">
            <a:solidFill>
              <a:srgbClr val="1E8E3E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2468880" y="3273552"/>
            <a:ext cx="0" cy="246888"/>
          </a:xfrm>
          <a:prstGeom prst="line">
            <a:avLst/>
          </a:prstGeom>
          <a:noFill/>
          <a:ln w="19050">
            <a:solidFill>
              <a:srgbClr val="1E8E3E"/>
            </a:solidFill>
            <a:prstDash val="solid"/>
            <a:tailEnd type="triangle"/>
          </a:ln>
        </p:spPr>
      </p:sp>
      <p:sp>
        <p:nvSpPr>
          <p:cNvPr id="54" name="Text 44"/>
          <p:cNvSpPr/>
          <p:nvPr/>
        </p:nvSpPr>
        <p:spPr>
          <a:xfrm>
            <a:off x="7269480" y="3127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50" dirty="0"/>
          </a:p>
        </p:txBody>
      </p:sp>
      <p:sp>
        <p:nvSpPr>
          <p:cNvPr id="55" name="Shape 45"/>
          <p:cNvSpPr/>
          <p:nvPr/>
        </p:nvSpPr>
        <p:spPr>
          <a:xfrm>
            <a:off x="1737360" y="352044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8E2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1737360" y="3520440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GPO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_Canary</a:t>
            </a:r>
            <a:endParaRPr lang="en-US" sz="850" dirty="0"/>
          </a:p>
        </p:txBody>
      </p:sp>
      <p:sp>
        <p:nvSpPr>
          <p:cNvPr id="57" name="Shape 47"/>
          <p:cNvSpPr/>
          <p:nvPr/>
        </p:nvSpPr>
        <p:spPr>
          <a:xfrm>
            <a:off x="3520440" y="352044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FF8E2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3520440" y="3520440"/>
            <a:ext cx="18745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_Canary to BoB OU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(Higher Precedence Than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Release)</a:t>
            </a:r>
            <a:endParaRPr lang="en-US" sz="800" dirty="0"/>
          </a:p>
        </p:txBody>
      </p:sp>
      <p:sp>
        <p:nvSpPr>
          <p:cNvPr id="59" name="Shape 49"/>
          <p:cNvSpPr/>
          <p:nvPr/>
        </p:nvSpPr>
        <p:spPr>
          <a:xfrm>
            <a:off x="5715000" y="3520440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FFF8E2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5715000" y="3520440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Filter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Group 1</a:t>
            </a:r>
            <a:endParaRPr lang="en-US" sz="850" dirty="0"/>
          </a:p>
        </p:txBody>
      </p:sp>
      <p:sp>
        <p:nvSpPr>
          <p:cNvPr id="61" name="Shape 51"/>
          <p:cNvSpPr/>
          <p:nvPr/>
        </p:nvSpPr>
        <p:spPr>
          <a:xfrm>
            <a:off x="3200400" y="3849624"/>
            <a:ext cx="32004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62" name="Shape 52"/>
          <p:cNvSpPr/>
          <p:nvPr/>
        </p:nvSpPr>
        <p:spPr>
          <a:xfrm>
            <a:off x="5394960" y="3849624"/>
            <a:ext cx="32004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63" name="Shape 53"/>
          <p:cNvSpPr/>
          <p:nvPr/>
        </p:nvSpPr>
        <p:spPr>
          <a:xfrm>
            <a:off x="6469380" y="4178808"/>
            <a:ext cx="0" cy="347472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64" name="Shape 54"/>
          <p:cNvSpPr/>
          <p:nvPr/>
        </p:nvSpPr>
        <p:spPr>
          <a:xfrm>
            <a:off x="1737360" y="4526280"/>
            <a:ext cx="5029200" cy="768096"/>
          </a:xfrm>
          <a:prstGeom prst="roundRect">
            <a:avLst>
              <a:gd name="adj" fmla="val 5952"/>
            </a:avLst>
          </a:prstGeom>
          <a:solidFill>
            <a:srgbClr val="FBFAFE"/>
          </a:solidFill>
          <a:ln w="12700">
            <a:solidFill>
              <a:srgbClr val="9A86C9"/>
            </a:solidFill>
            <a:prstDash val="dash"/>
          </a:ln>
        </p:spPr>
      </p:sp>
      <p:sp>
        <p:nvSpPr>
          <p:cNvPr id="65" name="Shape 55"/>
          <p:cNvSpPr/>
          <p:nvPr/>
        </p:nvSpPr>
        <p:spPr>
          <a:xfrm>
            <a:off x="1874520" y="46360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F0EBFA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187452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Group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800" dirty="0"/>
          </a:p>
        </p:txBody>
      </p:sp>
      <p:sp>
        <p:nvSpPr>
          <p:cNvPr id="67" name="Shape 57"/>
          <p:cNvSpPr/>
          <p:nvPr/>
        </p:nvSpPr>
        <p:spPr>
          <a:xfrm>
            <a:off x="3474720" y="46360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F0EBFA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68" name="Text 58"/>
          <p:cNvSpPr/>
          <p:nvPr/>
        </p:nvSpPr>
        <p:spPr>
          <a:xfrm>
            <a:off x="347472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with Users 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Group 1 Report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Issues / Concerns</a:t>
            </a:r>
            <a:endParaRPr lang="en-US" sz="800" dirty="0"/>
          </a:p>
        </p:txBody>
      </p:sp>
      <p:sp>
        <p:nvSpPr>
          <p:cNvPr id="69" name="Shape 59"/>
          <p:cNvSpPr/>
          <p:nvPr/>
        </p:nvSpPr>
        <p:spPr>
          <a:xfrm>
            <a:off x="5074920" y="46360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F0EBFA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70" name="Text 60"/>
          <p:cNvSpPr/>
          <p:nvPr/>
        </p:nvSpPr>
        <p:spPr>
          <a:xfrm>
            <a:off x="507492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Data &amp; 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2 Weeks</a:t>
            </a:r>
            <a:endParaRPr lang="en-US" sz="800" dirty="0"/>
          </a:p>
        </p:txBody>
      </p:sp>
      <p:sp>
        <p:nvSpPr>
          <p:cNvPr id="71" name="Shape 61"/>
          <p:cNvSpPr/>
          <p:nvPr/>
        </p:nvSpPr>
        <p:spPr>
          <a:xfrm>
            <a:off x="3291840" y="4910328"/>
            <a:ext cx="18288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72" name="Shape 62"/>
          <p:cNvSpPr/>
          <p:nvPr/>
        </p:nvSpPr>
        <p:spPr>
          <a:xfrm>
            <a:off x="4892040" y="4910328"/>
            <a:ext cx="18288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73" name="Shape 63"/>
          <p:cNvSpPr/>
          <p:nvPr/>
        </p:nvSpPr>
        <p:spPr>
          <a:xfrm>
            <a:off x="4183380" y="5184648"/>
            <a:ext cx="0" cy="36576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74" name="Shape 64"/>
          <p:cNvSpPr/>
          <p:nvPr/>
        </p:nvSpPr>
        <p:spPr>
          <a:xfrm>
            <a:off x="1737360" y="5440680"/>
            <a:ext cx="5029200" cy="768096"/>
          </a:xfrm>
          <a:prstGeom prst="roundRect">
            <a:avLst>
              <a:gd name="adj" fmla="val 5952"/>
            </a:avLst>
          </a:prstGeom>
          <a:solidFill>
            <a:srgbClr val="FBFAFE"/>
          </a:solidFill>
          <a:ln w="12700">
            <a:solidFill>
              <a:srgbClr val="9A86C9"/>
            </a:solidFill>
            <a:prstDash val="dash"/>
          </a:ln>
        </p:spPr>
      </p:sp>
      <p:sp>
        <p:nvSpPr>
          <p:cNvPr id="75" name="Shape 65"/>
          <p:cNvSpPr/>
          <p:nvPr/>
        </p:nvSpPr>
        <p:spPr>
          <a:xfrm>
            <a:off x="1874520" y="55504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F0EBFA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76" name="Text 66"/>
          <p:cNvSpPr/>
          <p:nvPr/>
        </p:nvSpPr>
        <p:spPr>
          <a:xfrm>
            <a:off x="1874520" y="5550408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Group 2</a:t>
            </a:r>
            <a:endParaRPr lang="en-US" sz="800" dirty="0"/>
          </a:p>
        </p:txBody>
      </p:sp>
      <p:sp>
        <p:nvSpPr>
          <p:cNvPr id="77" name="Shape 67"/>
          <p:cNvSpPr/>
          <p:nvPr/>
        </p:nvSpPr>
        <p:spPr>
          <a:xfrm>
            <a:off x="3474720" y="55504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F0EBFA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78" name="Text 68"/>
          <p:cNvSpPr/>
          <p:nvPr/>
        </p:nvSpPr>
        <p:spPr>
          <a:xfrm>
            <a:off x="3474720" y="5550408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Group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800" dirty="0"/>
          </a:p>
        </p:txBody>
      </p:sp>
      <p:sp>
        <p:nvSpPr>
          <p:cNvPr id="79" name="Shape 69"/>
          <p:cNvSpPr/>
          <p:nvPr/>
        </p:nvSpPr>
        <p:spPr>
          <a:xfrm>
            <a:off x="5074920" y="55504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F0EBFA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5074920" y="5550408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Data &amp; 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2 Weeks</a:t>
            </a:r>
            <a:endParaRPr lang="en-US" sz="800" dirty="0"/>
          </a:p>
        </p:txBody>
      </p:sp>
      <p:sp>
        <p:nvSpPr>
          <p:cNvPr id="81" name="Shape 71"/>
          <p:cNvSpPr/>
          <p:nvPr/>
        </p:nvSpPr>
        <p:spPr>
          <a:xfrm>
            <a:off x="3291840" y="5824728"/>
            <a:ext cx="18288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82" name="Shape 72"/>
          <p:cNvSpPr/>
          <p:nvPr/>
        </p:nvSpPr>
        <p:spPr>
          <a:xfrm>
            <a:off x="4892040" y="5824728"/>
            <a:ext cx="18288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83" name="Shape 73"/>
          <p:cNvSpPr/>
          <p:nvPr/>
        </p:nvSpPr>
        <p:spPr>
          <a:xfrm>
            <a:off x="4183380" y="6099048"/>
            <a:ext cx="0" cy="36576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84" name="Shape 74"/>
          <p:cNvSpPr/>
          <p:nvPr/>
        </p:nvSpPr>
        <p:spPr>
          <a:xfrm>
            <a:off x="1737360" y="6355080"/>
            <a:ext cx="5029200" cy="768096"/>
          </a:xfrm>
          <a:prstGeom prst="roundRect">
            <a:avLst>
              <a:gd name="adj" fmla="val 5952"/>
            </a:avLst>
          </a:prstGeom>
          <a:solidFill>
            <a:srgbClr val="FBFAFE"/>
          </a:solidFill>
          <a:ln w="12700">
            <a:solidFill>
              <a:srgbClr val="9A86C9"/>
            </a:solidFill>
            <a:prstDash val="dash"/>
          </a:ln>
        </p:spPr>
      </p:sp>
      <p:sp>
        <p:nvSpPr>
          <p:cNvPr id="85" name="Shape 75"/>
          <p:cNvSpPr/>
          <p:nvPr/>
        </p:nvSpPr>
        <p:spPr>
          <a:xfrm>
            <a:off x="1874520" y="64648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F0EBFA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86" name="Text 76"/>
          <p:cNvSpPr/>
          <p:nvPr/>
        </p:nvSpPr>
        <p:spPr>
          <a:xfrm>
            <a:off x="1874520" y="6464808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Group 3</a:t>
            </a:r>
            <a:endParaRPr lang="en-US" sz="800" dirty="0"/>
          </a:p>
        </p:txBody>
      </p:sp>
      <p:sp>
        <p:nvSpPr>
          <p:cNvPr id="87" name="Shape 77"/>
          <p:cNvSpPr/>
          <p:nvPr/>
        </p:nvSpPr>
        <p:spPr>
          <a:xfrm>
            <a:off x="3474720" y="64648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F0EBFA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88" name="Text 78"/>
          <p:cNvSpPr/>
          <p:nvPr/>
        </p:nvSpPr>
        <p:spPr>
          <a:xfrm>
            <a:off x="3474720" y="6464808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Group 3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800" dirty="0"/>
          </a:p>
        </p:txBody>
      </p:sp>
      <p:sp>
        <p:nvSpPr>
          <p:cNvPr id="89" name="Shape 79"/>
          <p:cNvSpPr/>
          <p:nvPr/>
        </p:nvSpPr>
        <p:spPr>
          <a:xfrm>
            <a:off x="5074920" y="64648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F0EBFA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90" name="Text 80"/>
          <p:cNvSpPr/>
          <p:nvPr/>
        </p:nvSpPr>
        <p:spPr>
          <a:xfrm>
            <a:off x="5074920" y="6464808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Data &amp; 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2 Weeks</a:t>
            </a:r>
            <a:endParaRPr lang="en-US" sz="800" dirty="0"/>
          </a:p>
        </p:txBody>
      </p:sp>
      <p:sp>
        <p:nvSpPr>
          <p:cNvPr id="91" name="Shape 81"/>
          <p:cNvSpPr/>
          <p:nvPr/>
        </p:nvSpPr>
        <p:spPr>
          <a:xfrm>
            <a:off x="3291840" y="6739128"/>
            <a:ext cx="18288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92" name="Shape 82"/>
          <p:cNvSpPr/>
          <p:nvPr/>
        </p:nvSpPr>
        <p:spPr>
          <a:xfrm>
            <a:off x="4892040" y="6739128"/>
            <a:ext cx="18288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93" name="Shape 83"/>
          <p:cNvSpPr/>
          <p:nvPr/>
        </p:nvSpPr>
        <p:spPr>
          <a:xfrm>
            <a:off x="6492240" y="4910328"/>
            <a:ext cx="34747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6492240" y="5824728"/>
            <a:ext cx="34747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95" name="Shape 85"/>
          <p:cNvSpPr/>
          <p:nvPr/>
        </p:nvSpPr>
        <p:spPr>
          <a:xfrm>
            <a:off x="6492240" y="6739128"/>
            <a:ext cx="34747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96" name="Shape 86"/>
          <p:cNvSpPr/>
          <p:nvPr/>
        </p:nvSpPr>
        <p:spPr>
          <a:xfrm>
            <a:off x="6839712" y="4910328"/>
            <a:ext cx="0" cy="182880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97" name="Shape 87"/>
          <p:cNvSpPr/>
          <p:nvPr/>
        </p:nvSpPr>
        <p:spPr>
          <a:xfrm>
            <a:off x="6839712" y="5833872"/>
            <a:ext cx="36576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98" name="Shape 88"/>
          <p:cNvSpPr/>
          <p:nvPr/>
        </p:nvSpPr>
        <p:spPr>
          <a:xfrm>
            <a:off x="6876288" y="5486400"/>
            <a:ext cx="1051560" cy="69494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5B7FC7"/>
            </a:solidFill>
            <a:prstDash val="solid"/>
          </a:ln>
        </p:spPr>
      </p:sp>
      <p:sp>
        <p:nvSpPr>
          <p:cNvPr id="99" name="Text 89"/>
          <p:cNvSpPr/>
          <p:nvPr/>
        </p:nvSpPr>
        <p:spPr>
          <a:xfrm>
            <a:off x="6876288" y="5486400"/>
            <a:ext cx="1051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Found?</a:t>
            </a:r>
            <a:endParaRPr lang="en-US" sz="800" dirty="0"/>
          </a:p>
        </p:txBody>
      </p:sp>
      <p:sp>
        <p:nvSpPr>
          <p:cNvPr id="100" name="Shape 90"/>
          <p:cNvSpPr/>
          <p:nvPr/>
        </p:nvSpPr>
        <p:spPr>
          <a:xfrm flipV="1">
            <a:off x="7402068" y="4434840"/>
            <a:ext cx="0" cy="105156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01" name="Shape 91"/>
          <p:cNvSpPr/>
          <p:nvPr/>
        </p:nvSpPr>
        <p:spPr>
          <a:xfrm>
            <a:off x="6821424" y="4434840"/>
            <a:ext cx="580644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102" name="Text 92"/>
          <p:cNvSpPr/>
          <p:nvPr/>
        </p:nvSpPr>
        <p:spPr>
          <a:xfrm>
            <a:off x="7475220" y="51389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50" dirty="0"/>
          </a:p>
        </p:txBody>
      </p:sp>
      <p:sp>
        <p:nvSpPr>
          <p:cNvPr id="103" name="Shape 93"/>
          <p:cNvSpPr/>
          <p:nvPr/>
        </p:nvSpPr>
        <p:spPr>
          <a:xfrm>
            <a:off x="7402068" y="6181344"/>
            <a:ext cx="0" cy="1389888"/>
          </a:xfrm>
          <a:prstGeom prst="line">
            <a:avLst/>
          </a:prstGeom>
          <a:noFill/>
          <a:ln w="19050">
            <a:solidFill>
              <a:srgbClr val="1E8E3E"/>
            </a:solidFill>
            <a:prstDash val="solid"/>
            <a:tailEnd type="triangle"/>
          </a:ln>
        </p:spPr>
      </p:sp>
      <p:sp>
        <p:nvSpPr>
          <p:cNvPr id="104" name="Text 94"/>
          <p:cNvSpPr/>
          <p:nvPr/>
        </p:nvSpPr>
        <p:spPr>
          <a:xfrm>
            <a:off x="74752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105" name="Shape 95"/>
          <p:cNvSpPr/>
          <p:nvPr/>
        </p:nvSpPr>
        <p:spPr>
          <a:xfrm>
            <a:off x="1920240" y="7607808"/>
            <a:ext cx="2240280" cy="749808"/>
          </a:xfrm>
          <a:prstGeom prst="roundRect">
            <a:avLst>
              <a:gd name="adj" fmla="val 6098"/>
            </a:avLst>
          </a:prstGeom>
          <a:solidFill>
            <a:srgbClr val="E8F0FB"/>
          </a:solidFill>
          <a:ln w="15875">
            <a:solidFill>
              <a:srgbClr val="5B7FC7"/>
            </a:solidFill>
            <a:prstDash val="solid"/>
          </a:ln>
        </p:spPr>
      </p:sp>
      <p:sp>
        <p:nvSpPr>
          <p:cNvPr id="106" name="Text 96"/>
          <p:cNvSpPr/>
          <p:nvPr/>
        </p:nvSpPr>
        <p:spPr>
          <a:xfrm>
            <a:off x="1920240" y="7607808"/>
            <a:ext cx="22402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Testing is Complete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Data is Recorded,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STIG Overrides</a:t>
            </a:r>
            <a:endParaRPr lang="en-US" sz="850" dirty="0"/>
          </a:p>
        </p:txBody>
      </p:sp>
      <p:sp>
        <p:nvSpPr>
          <p:cNvPr id="107" name="Shape 97"/>
          <p:cNvSpPr/>
          <p:nvPr/>
        </p:nvSpPr>
        <p:spPr>
          <a:xfrm>
            <a:off x="4983480" y="7516368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8F0FB"/>
          </a:solidFill>
          <a:ln w="15875">
            <a:solidFill>
              <a:srgbClr val="5B7FC7"/>
            </a:solidFill>
            <a:prstDash val="solid"/>
          </a:ln>
        </p:spPr>
      </p:sp>
      <p:sp>
        <p:nvSpPr>
          <p:cNvPr id="108" name="Text 98"/>
          <p:cNvSpPr/>
          <p:nvPr/>
        </p:nvSpPr>
        <p:spPr>
          <a:xfrm>
            <a:off x="4983480" y="7516368"/>
            <a:ext cx="23317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EUDs Override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(Available to All Sites)</a:t>
            </a:r>
            <a:endParaRPr lang="en-US" sz="800" dirty="0"/>
          </a:p>
        </p:txBody>
      </p:sp>
      <p:sp>
        <p:nvSpPr>
          <p:cNvPr id="109" name="Shape 99"/>
          <p:cNvSpPr/>
          <p:nvPr/>
        </p:nvSpPr>
        <p:spPr>
          <a:xfrm>
            <a:off x="4983480" y="8046720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8F0FB"/>
          </a:solidFill>
          <a:ln w="15875">
            <a:solidFill>
              <a:srgbClr val="5B7FC7"/>
            </a:solidFill>
            <a:prstDash val="solid"/>
          </a:ln>
        </p:spPr>
      </p:sp>
      <p:sp>
        <p:nvSpPr>
          <p:cNvPr id="110" name="Text 100"/>
          <p:cNvSpPr/>
          <p:nvPr/>
        </p:nvSpPr>
        <p:spPr>
          <a:xfrm>
            <a:off x="4983480" y="8046720"/>
            <a:ext cx="23317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Override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(Available to Specific Sites)</a:t>
            </a:r>
            <a:endParaRPr lang="en-US" sz="800" dirty="0"/>
          </a:p>
        </p:txBody>
      </p:sp>
      <p:sp>
        <p:nvSpPr>
          <p:cNvPr id="111" name="Shape 101"/>
          <p:cNvSpPr/>
          <p:nvPr/>
        </p:nvSpPr>
        <p:spPr>
          <a:xfrm>
            <a:off x="4160520" y="7982712"/>
            <a:ext cx="41148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12" name="Shape 102"/>
          <p:cNvSpPr/>
          <p:nvPr/>
        </p:nvSpPr>
        <p:spPr>
          <a:xfrm>
            <a:off x="4572000" y="7726680"/>
            <a:ext cx="0" cy="530352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13" name="Shape 103"/>
          <p:cNvSpPr/>
          <p:nvPr/>
        </p:nvSpPr>
        <p:spPr>
          <a:xfrm>
            <a:off x="4572000" y="7726680"/>
            <a:ext cx="41148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14" name="Shape 104"/>
          <p:cNvSpPr/>
          <p:nvPr/>
        </p:nvSpPr>
        <p:spPr>
          <a:xfrm>
            <a:off x="4572000" y="8257032"/>
            <a:ext cx="41148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15" name="Shape 105"/>
          <p:cNvSpPr/>
          <p:nvPr/>
        </p:nvSpPr>
        <p:spPr>
          <a:xfrm>
            <a:off x="7315200" y="8257032"/>
            <a:ext cx="32004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16" name="Shape 106"/>
          <p:cNvSpPr/>
          <p:nvPr/>
        </p:nvSpPr>
        <p:spPr>
          <a:xfrm>
            <a:off x="7635240" y="8257032"/>
            <a:ext cx="0" cy="448056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17" name="Shape 107"/>
          <p:cNvSpPr/>
          <p:nvPr/>
        </p:nvSpPr>
        <p:spPr>
          <a:xfrm>
            <a:off x="1737360" y="8705088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9F4EC"/>
          </a:solidFill>
          <a:ln w="15875">
            <a:solidFill>
              <a:srgbClr val="4C9A5F"/>
            </a:solidFill>
            <a:prstDash val="solid"/>
          </a:ln>
        </p:spPr>
      </p:sp>
      <p:sp>
        <p:nvSpPr>
          <p:cNvPr id="118" name="Text 108"/>
          <p:cNvSpPr/>
          <p:nvPr/>
        </p:nvSpPr>
        <p:spPr>
          <a:xfrm>
            <a:off x="1737360" y="8705088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Pilot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Groups</a:t>
            </a:r>
            <a:endParaRPr lang="en-US" sz="850" dirty="0"/>
          </a:p>
        </p:txBody>
      </p:sp>
      <p:sp>
        <p:nvSpPr>
          <p:cNvPr id="119" name="Shape 109"/>
          <p:cNvSpPr/>
          <p:nvPr/>
        </p:nvSpPr>
        <p:spPr>
          <a:xfrm>
            <a:off x="3337560" y="8705088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9F4EC"/>
          </a:solidFill>
          <a:ln w="15875">
            <a:solidFill>
              <a:srgbClr val="4C9A5F"/>
            </a:solidFill>
            <a:prstDash val="solid"/>
          </a:ln>
        </p:spPr>
      </p:sp>
      <p:sp>
        <p:nvSpPr>
          <p:cNvPr id="120" name="Text 110"/>
          <p:cNvSpPr/>
          <p:nvPr/>
        </p:nvSpPr>
        <p:spPr>
          <a:xfrm>
            <a:off x="3337560" y="8705088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850" dirty="0"/>
          </a:p>
        </p:txBody>
      </p:sp>
      <p:sp>
        <p:nvSpPr>
          <p:cNvPr id="121" name="Shape 111"/>
          <p:cNvSpPr/>
          <p:nvPr/>
        </p:nvSpPr>
        <p:spPr>
          <a:xfrm>
            <a:off x="4937760" y="8705088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9F4EC"/>
          </a:solidFill>
          <a:ln w="15875">
            <a:solidFill>
              <a:srgbClr val="4C9A5F"/>
            </a:solidFill>
            <a:prstDash val="solid"/>
          </a:ln>
        </p:spPr>
      </p:sp>
      <p:sp>
        <p:nvSpPr>
          <p:cNvPr id="122" name="Text 112"/>
          <p:cNvSpPr/>
          <p:nvPr/>
        </p:nvSpPr>
        <p:spPr>
          <a:xfrm>
            <a:off x="4937760" y="8705088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_Canary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123" name="Shape 113"/>
          <p:cNvSpPr/>
          <p:nvPr/>
        </p:nvSpPr>
        <p:spPr>
          <a:xfrm>
            <a:off x="6537960" y="8705088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9F4EC"/>
          </a:solidFill>
          <a:ln w="15875">
            <a:solidFill>
              <a:srgbClr val="4C9A5F"/>
            </a:solidFill>
            <a:prstDash val="solid"/>
          </a:ln>
        </p:spPr>
      </p:sp>
      <p:sp>
        <p:nvSpPr>
          <p:cNvPr id="124" name="Text 114"/>
          <p:cNvSpPr/>
          <p:nvPr/>
        </p:nvSpPr>
        <p:spPr>
          <a:xfrm>
            <a:off x="6537960" y="8705088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Previous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GPO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_Sunset</a:t>
            </a:r>
            <a:endParaRPr lang="en-US" sz="850" dirty="0"/>
          </a:p>
        </p:txBody>
      </p:sp>
      <p:sp>
        <p:nvSpPr>
          <p:cNvPr id="125" name="Shape 115"/>
          <p:cNvSpPr/>
          <p:nvPr/>
        </p:nvSpPr>
        <p:spPr>
          <a:xfrm>
            <a:off x="3108960" y="8988552"/>
            <a:ext cx="2286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26" name="Shape 116"/>
          <p:cNvSpPr/>
          <p:nvPr/>
        </p:nvSpPr>
        <p:spPr>
          <a:xfrm>
            <a:off x="4709160" y="8988552"/>
            <a:ext cx="2286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27" name="Shape 117"/>
          <p:cNvSpPr/>
          <p:nvPr/>
        </p:nvSpPr>
        <p:spPr>
          <a:xfrm>
            <a:off x="6309360" y="8988552"/>
            <a:ext cx="2286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28" name="Shape 118"/>
          <p:cNvSpPr/>
          <p:nvPr/>
        </p:nvSpPr>
        <p:spPr>
          <a:xfrm>
            <a:off x="1737360" y="9564624"/>
            <a:ext cx="1645920" cy="621792"/>
          </a:xfrm>
          <a:prstGeom prst="roundRect">
            <a:avLst>
              <a:gd name="adj" fmla="val 7353"/>
            </a:avLst>
          </a:prstGeom>
          <a:solidFill>
            <a:srgbClr val="FFF1E0"/>
          </a:solidFill>
          <a:ln w="15875">
            <a:solidFill>
              <a:srgbClr val="D98A3D"/>
            </a:solidFill>
            <a:prstDash val="solid"/>
          </a:ln>
        </p:spPr>
      </p:sp>
      <p:sp>
        <p:nvSpPr>
          <p:cNvPr id="129" name="Text 119"/>
          <p:cNvSpPr/>
          <p:nvPr/>
        </p:nvSpPr>
        <p:spPr>
          <a:xfrm>
            <a:off x="1737360" y="9564624"/>
            <a:ext cx="164592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_Sunset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from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OU</a:t>
            </a:r>
            <a:endParaRPr lang="en-US" sz="850" dirty="0"/>
          </a:p>
        </p:txBody>
      </p:sp>
      <p:sp>
        <p:nvSpPr>
          <p:cNvPr id="130" name="Shape 120"/>
          <p:cNvSpPr/>
          <p:nvPr/>
        </p:nvSpPr>
        <p:spPr>
          <a:xfrm>
            <a:off x="3703320" y="9564624"/>
            <a:ext cx="1645920" cy="621792"/>
          </a:xfrm>
          <a:prstGeom prst="roundRect">
            <a:avLst>
              <a:gd name="adj" fmla="val 7353"/>
            </a:avLst>
          </a:prstGeom>
          <a:solidFill>
            <a:srgbClr val="FFF1E0"/>
          </a:solidFill>
          <a:ln w="15875">
            <a:solidFill>
              <a:srgbClr val="D98A3D"/>
            </a:solidFill>
            <a:prstDash val="solid"/>
          </a:ln>
        </p:spPr>
      </p:sp>
      <p:sp>
        <p:nvSpPr>
          <p:cNvPr id="131" name="Text 121"/>
          <p:cNvSpPr/>
          <p:nvPr/>
        </p:nvSpPr>
        <p:spPr>
          <a:xfrm>
            <a:off x="3703320" y="9564624"/>
            <a:ext cx="164592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_Sunset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GPO's To Be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 OU</a:t>
            </a:r>
            <a:endParaRPr lang="en-US" sz="850" dirty="0"/>
          </a:p>
        </p:txBody>
      </p:sp>
      <p:sp>
        <p:nvSpPr>
          <p:cNvPr id="132" name="Shape 122"/>
          <p:cNvSpPr/>
          <p:nvPr/>
        </p:nvSpPr>
        <p:spPr>
          <a:xfrm>
            <a:off x="5669280" y="9564624"/>
            <a:ext cx="2057400" cy="621792"/>
          </a:xfrm>
          <a:prstGeom prst="roundRect">
            <a:avLst>
              <a:gd name="adj" fmla="val 7353"/>
            </a:avLst>
          </a:prstGeom>
          <a:solidFill>
            <a:srgbClr val="FFF1E0"/>
          </a:solidFill>
          <a:ln w="15875">
            <a:solidFill>
              <a:srgbClr val="D98A3D"/>
            </a:solidFill>
            <a:prstDash val="solid"/>
          </a:ln>
        </p:spPr>
      </p:sp>
      <p:sp>
        <p:nvSpPr>
          <p:cNvPr id="133" name="Text 123"/>
          <p:cNvSpPr/>
          <p:nvPr/>
        </p:nvSpPr>
        <p:spPr>
          <a:xfrm>
            <a:off x="5669280" y="9564624"/>
            <a:ext cx="20574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_Sunset GPO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Deletion from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Completely</a:t>
            </a:r>
            <a:endParaRPr lang="en-US" sz="800" dirty="0"/>
          </a:p>
        </p:txBody>
      </p:sp>
      <p:sp>
        <p:nvSpPr>
          <p:cNvPr id="134" name="Shape 124"/>
          <p:cNvSpPr/>
          <p:nvPr/>
        </p:nvSpPr>
        <p:spPr>
          <a:xfrm>
            <a:off x="3383280" y="9875520"/>
            <a:ext cx="32004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35" name="Shape 125"/>
          <p:cNvSpPr/>
          <p:nvPr/>
        </p:nvSpPr>
        <p:spPr>
          <a:xfrm>
            <a:off x="5349240" y="9875520"/>
            <a:ext cx="32004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36" name="Shape 126"/>
          <p:cNvSpPr/>
          <p:nvPr/>
        </p:nvSpPr>
        <p:spPr>
          <a:xfrm>
            <a:off x="2148840" y="1046988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DF0F0"/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1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1720" y="10597896"/>
            <a:ext cx="274320" cy="274320"/>
          </a:xfrm>
          <a:prstGeom prst="rect">
            <a:avLst/>
          </a:prstGeom>
        </p:spPr>
      </p:pic>
      <p:sp>
        <p:nvSpPr>
          <p:cNvPr id="138" name="Text 127"/>
          <p:cNvSpPr/>
          <p:nvPr/>
        </p:nvSpPr>
        <p:spPr>
          <a:xfrm>
            <a:off x="2743200" y="1046988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STIG GPO Deployed Enterprise-Wide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GPO Sunset and Scheduled for Deletion</a:t>
            </a:r>
            <a:endParaRPr lang="en-US" sz="1100" dirty="0"/>
          </a:p>
        </p:txBody>
      </p:sp>
      <p:sp>
        <p:nvSpPr>
          <p:cNvPr id="139" name="Shape 128"/>
          <p:cNvSpPr/>
          <p:nvPr/>
        </p:nvSpPr>
        <p:spPr>
          <a:xfrm>
            <a:off x="1783080" y="11265408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E9F4EC"/>
          </a:solidFill>
          <a:ln w="12700">
            <a:solidFill>
              <a:srgbClr val="4C9A5F"/>
            </a:solidFill>
            <a:prstDash val="solid"/>
          </a:ln>
        </p:spPr>
      </p:sp>
      <p:sp>
        <p:nvSpPr>
          <p:cNvPr id="140" name="Text 129"/>
          <p:cNvSpPr/>
          <p:nvPr/>
        </p:nvSpPr>
        <p:spPr>
          <a:xfrm>
            <a:off x="2093976" y="11192256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 Team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700" dirty="0"/>
          </a:p>
        </p:txBody>
      </p:sp>
      <p:sp>
        <p:nvSpPr>
          <p:cNvPr id="141" name="Shape 130"/>
          <p:cNvSpPr/>
          <p:nvPr/>
        </p:nvSpPr>
        <p:spPr>
          <a:xfrm>
            <a:off x="2825496" y="11265408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FFF8E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2" name="Text 131"/>
          <p:cNvSpPr/>
          <p:nvPr/>
        </p:nvSpPr>
        <p:spPr>
          <a:xfrm>
            <a:off x="3136392" y="11192256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Release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700" dirty="0"/>
          </a:p>
        </p:txBody>
      </p:sp>
      <p:sp>
        <p:nvSpPr>
          <p:cNvPr id="143" name="Shape 132"/>
          <p:cNvSpPr/>
          <p:nvPr/>
        </p:nvSpPr>
        <p:spPr>
          <a:xfrm>
            <a:off x="3867912" y="11265408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F0EBFA"/>
          </a:solidFill>
          <a:ln w="12700">
            <a:solidFill>
              <a:srgbClr val="8B6FC9"/>
            </a:solidFill>
            <a:prstDash val="solid"/>
          </a:ln>
        </p:spPr>
      </p:sp>
      <p:sp>
        <p:nvSpPr>
          <p:cNvPr id="144" name="Text 133"/>
          <p:cNvSpPr/>
          <p:nvPr/>
        </p:nvSpPr>
        <p:spPr>
          <a:xfrm>
            <a:off x="4178808" y="11192256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Testing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700" dirty="0"/>
          </a:p>
        </p:txBody>
      </p:sp>
      <p:sp>
        <p:nvSpPr>
          <p:cNvPr id="145" name="Shape 134"/>
          <p:cNvSpPr/>
          <p:nvPr/>
        </p:nvSpPr>
        <p:spPr>
          <a:xfrm>
            <a:off x="4910328" y="11265408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E8F0FB"/>
          </a:solidFill>
          <a:ln w="12700">
            <a:solidFill>
              <a:srgbClr val="5B7FC7"/>
            </a:solidFill>
            <a:prstDash val="solid"/>
          </a:ln>
        </p:spPr>
      </p:sp>
      <p:sp>
        <p:nvSpPr>
          <p:cNvPr id="146" name="Text 135"/>
          <p:cNvSpPr/>
          <p:nvPr/>
        </p:nvSpPr>
        <p:spPr>
          <a:xfrm>
            <a:off x="5221224" y="11192256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700" dirty="0"/>
          </a:p>
        </p:txBody>
      </p:sp>
      <p:sp>
        <p:nvSpPr>
          <p:cNvPr id="147" name="Shape 136"/>
          <p:cNvSpPr/>
          <p:nvPr/>
        </p:nvSpPr>
        <p:spPr>
          <a:xfrm>
            <a:off x="5952744" y="11265408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FFF1E0"/>
          </a:solidFill>
          <a:ln w="12700">
            <a:solidFill>
              <a:srgbClr val="D98A3D"/>
            </a:solidFill>
            <a:prstDash val="solid"/>
          </a:ln>
        </p:spPr>
      </p:sp>
      <p:sp>
        <p:nvSpPr>
          <p:cNvPr id="148" name="Text 137"/>
          <p:cNvSpPr/>
          <p:nvPr/>
        </p:nvSpPr>
        <p:spPr>
          <a:xfrm>
            <a:off x="6263640" y="11192256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Sunset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700" dirty="0"/>
          </a:p>
        </p:txBody>
      </p:sp>
      <p:sp>
        <p:nvSpPr>
          <p:cNvPr id="149" name="Shape 138"/>
          <p:cNvSpPr/>
          <p:nvPr/>
        </p:nvSpPr>
        <p:spPr>
          <a:xfrm>
            <a:off x="6995160" y="11265408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FD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0" name="Text 139"/>
          <p:cNvSpPr/>
          <p:nvPr/>
        </p:nvSpPr>
        <p:spPr>
          <a:xfrm>
            <a:off x="7306056" y="11192256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STIG GPO Release Process</dc:title>
  <dc:subject>PptxGenJS Presentation</dc:subject>
  <dc:creator>PptxGenJS</dc:creator>
  <cp:lastModifiedBy>Brian Bailey</cp:lastModifiedBy>
  <cp:revision>1</cp:revision>
  <dcterms:created xsi:type="dcterms:W3CDTF">2026-06-12T19:03:41Z</dcterms:created>
  <dcterms:modified xsi:type="dcterms:W3CDTF">2026-06-12T19:28:28Z</dcterms:modified>
</cp:coreProperties>
</file>